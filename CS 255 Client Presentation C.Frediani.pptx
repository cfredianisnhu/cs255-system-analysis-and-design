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8" r:id="rId2"/>
    <p:sldId id="260" r:id="rId3"/>
    <p:sldId id="261" r:id="rId4"/>
    <p:sldId id="267" r:id="rId5"/>
    <p:sldId id="263" r:id="rId6"/>
    <p:sldId id="265" r:id="rId7"/>
  </p:sldIdLst>
  <p:sldSz cx="12192000" cy="6858000"/>
  <p:notesSz cx="6858000" cy="9144000"/>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66" autoAdjust="0"/>
    <p:restoredTop sz="65796" autoAdjust="0"/>
  </p:normalViewPr>
  <p:slideViewPr>
    <p:cSldViewPr snapToGrid="0">
      <p:cViewPr varScale="1">
        <p:scale>
          <a:sx n="41" d="100"/>
          <a:sy n="41" d="100"/>
        </p:scale>
        <p:origin x="1552" y="40"/>
      </p:cViewPr>
      <p:guideLst/>
    </p:cSldViewPr>
  </p:slideViewPr>
  <p:notesTextViewPr>
    <p:cViewPr>
      <p:scale>
        <a:sx n="1" d="1"/>
        <a:sy n="1" d="1"/>
      </p:scale>
      <p:origin x="0" y="-152"/>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20BB3-3CCB-4FE5-991B-82F6BCB48AF3}" type="datetimeFigureOut">
              <a:rPr lang="en-US" smtClean="0"/>
              <a:t>2/22/2026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746DE6-3336-457D-A091-FA20AC1C536E}" type="slidenum">
              <a:rPr lang="en-US" smtClean="0"/>
              <a:t>‹#›</a:t>
            </a:fld>
            <a:endParaRPr lang="en-US"/>
          </a:p>
        </p:txBody>
      </p:sp>
    </p:spTree>
    <p:extLst>
      <p:ext uri="{BB962C8B-B14F-4D97-AF65-F5344CB8AC3E}">
        <p14:creationId xmlns:p14="http://schemas.microsoft.com/office/powerpoint/2010/main" val="856294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a:t>
            </a:r>
            <a:r>
              <a:rPr lang="en-US" baseline="0" dirty="0"/>
              <a:t> speaker notes required for this slide.]</a:t>
            </a: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1</a:t>
            </a:fld>
            <a:endParaRPr lang="en-US"/>
          </a:p>
        </p:txBody>
      </p:sp>
    </p:spTree>
    <p:extLst>
      <p:ext uri="{BB962C8B-B14F-4D97-AF65-F5344CB8AC3E}">
        <p14:creationId xmlns:p14="http://schemas.microsoft.com/office/powerpoint/2010/main" val="4216242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dirty="0" err="1"/>
              <a:t>DriverPass</a:t>
            </a:r>
            <a:r>
              <a:rPr lang="en-US" dirty="0"/>
              <a:t> system includes several important functional requirements that directly support the company’s goals. First, customers must be able to schedule driving lessons online, which allows them to book sessions conveniently without needing to call the office. Second, customers can take online practice tests, helping them prepare for the DMV exam. The system also allows staff to manage reservations and assign drivers and vehicles efficiently. In addition, secure online payment processing ensures that customers can safely purchase lesson packages.</a:t>
            </a:r>
          </a:p>
          <a:p>
            <a:r>
              <a:rPr lang="en-US" dirty="0"/>
              <a:t>In addition to these functional features, the system must meet several nonfunctional requirements. The system will be accessible online at all times so customers can schedule lessons whenever it is convenient. Security is critical, so customer data and payment information will be protected through encryption and secure authentication methods. Role-based access ensures that employees only have access to the features necessary for their job responsibilities. Finally, activity tracking and reporting provide accountability and allow the owner to monitor system usage and reservations.</a:t>
            </a:r>
          </a:p>
          <a:p>
            <a:r>
              <a:rPr lang="en-US" dirty="0"/>
              <a:t>These requirements ensure that the system supports </a:t>
            </a:r>
            <a:r>
              <a:rPr lang="en-US" dirty="0" err="1"/>
              <a:t>DriverPass’s</a:t>
            </a:r>
            <a:r>
              <a:rPr lang="en-US" dirty="0"/>
              <a:t> operational needs while maintaining security, reliability, and usability.</a:t>
            </a:r>
          </a:p>
          <a:p>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2</a:t>
            </a:fld>
            <a:endParaRPr lang="en-US"/>
          </a:p>
        </p:txBody>
      </p:sp>
    </p:spTree>
    <p:extLst>
      <p:ext uri="{BB962C8B-B14F-4D97-AF65-F5344CB8AC3E}">
        <p14:creationId xmlns:p14="http://schemas.microsoft.com/office/powerpoint/2010/main" val="3399264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illustrates how different users interact with the </a:t>
            </a:r>
            <a:r>
              <a:rPr lang="en-US" dirty="0" err="1"/>
              <a:t>DriverPass</a:t>
            </a:r>
            <a:r>
              <a:rPr lang="en-US" dirty="0"/>
              <a:t> system and what actions they can perform.</a:t>
            </a:r>
          </a:p>
          <a:p>
            <a:r>
              <a:rPr lang="en-US" dirty="0"/>
              <a:t>Customers are able to create accounts, log in and out, reset their passwords, purchase lesson packages, schedule lessons, and take practice tests. They can also view their test results after completing practice exams.</a:t>
            </a:r>
          </a:p>
          <a:p>
            <a:r>
              <a:rPr lang="en-US" dirty="0"/>
              <a:t>The secretary can assist customers by scheduling, modifying, or canceling reservations. When a lesson is scheduled, the system automatically assigns both a driver and a vehicle to that reservation.</a:t>
            </a:r>
          </a:p>
          <a:p>
            <a:r>
              <a:rPr lang="en-US" dirty="0"/>
              <a:t>Drivers have access to view and manage lesson-related information, including reviewing notes connected to their sessions.</a:t>
            </a:r>
          </a:p>
          <a:p>
            <a:r>
              <a:rPr lang="en-US" dirty="0"/>
              <a:t>The IT officer manages system access and security by resetting user passwords, blocking or unblocking accounts, and managing roles and permissions.</a:t>
            </a:r>
          </a:p>
          <a:p>
            <a:r>
              <a:rPr lang="en-US" dirty="0"/>
              <a:t>The owner can disable packages, generate reports, download reports, and view activity logs to monitor system usage and business performance.</a:t>
            </a:r>
          </a:p>
          <a:p>
            <a:r>
              <a:rPr lang="en-US" dirty="0"/>
              <a:t>The system also connects to the DMV system to ensure that practice test content stays current and reflects updated rules or exam requirements.</a:t>
            </a:r>
          </a:p>
          <a:p>
            <a:r>
              <a:rPr lang="en-US" dirty="0"/>
              <a:t>Overall, this design ensures that each person involved with </a:t>
            </a:r>
            <a:r>
              <a:rPr lang="en-US" dirty="0" err="1"/>
              <a:t>DriverPass</a:t>
            </a:r>
            <a:r>
              <a:rPr lang="en-US" dirty="0"/>
              <a:t> has access only to the features necessary for their responsibilities, while still supporting the company’s goal of offering secure online scheduling, test preparation, and administrative oversight.</a:t>
            </a:r>
          </a:p>
          <a:p>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3</a:t>
            </a:fld>
            <a:endParaRPr lang="en-US"/>
          </a:p>
        </p:txBody>
      </p:sp>
    </p:spTree>
    <p:extLst>
      <p:ext uri="{BB962C8B-B14F-4D97-AF65-F5344CB8AC3E}">
        <p14:creationId xmlns:p14="http://schemas.microsoft.com/office/powerpoint/2010/main" val="2262835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breaks down the process a customer follows to schedule a driving lesson.</a:t>
            </a:r>
          </a:p>
          <a:p>
            <a:r>
              <a:rPr lang="en-US" dirty="0"/>
              <a:t>The process begins when the customer logs into the system. If they do not have an account or forget their password, they can register or reset their password before continuing. Once logged in, the customer selects a lesson package and chooses a preferred date and time, along with their pickup and drop-off location.</a:t>
            </a:r>
          </a:p>
          <a:p>
            <a:r>
              <a:rPr lang="en-US" dirty="0"/>
              <a:t>The system then checks whether the selected time slot is available. If the time is not available, the customer can choose another time. If the slot is available, the system automatically assigns both a driver and a vehicle for that lesson.</a:t>
            </a:r>
          </a:p>
          <a:p>
            <a:r>
              <a:rPr lang="en-US" dirty="0"/>
              <a:t>If payment is required, the customer enters their payment information. If the payment is unsuccessful, the system notifies the customer and allows them to try again. Once payment is successfully processed, the reservation is saved.</a:t>
            </a:r>
          </a:p>
          <a:p>
            <a:r>
              <a:rPr lang="en-US" dirty="0"/>
              <a:t>Finally, the system sends a confirmation message to the customer and records the transaction in the activity log. This ensures that all reservations are tracked and that </a:t>
            </a:r>
            <a:r>
              <a:rPr lang="en-US" dirty="0" err="1"/>
              <a:t>DriverPass</a:t>
            </a:r>
            <a:r>
              <a:rPr lang="en-US" dirty="0"/>
              <a:t> has a record of each booking.</a:t>
            </a:r>
          </a:p>
          <a:p>
            <a:r>
              <a:rPr lang="en-US" dirty="0"/>
              <a:t>This process supports </a:t>
            </a:r>
            <a:r>
              <a:rPr lang="en-US" dirty="0" err="1"/>
              <a:t>DriverPass’s</a:t>
            </a:r>
            <a:r>
              <a:rPr lang="en-US" dirty="0"/>
              <a:t> goal of providing an easy, secure, and efficient online scheduling system while maintaining accountability and proper tracking.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4</a:t>
            </a:fld>
            <a:endParaRPr lang="en-US"/>
          </a:p>
        </p:txBody>
      </p:sp>
    </p:spTree>
    <p:extLst>
      <p:ext uri="{BB962C8B-B14F-4D97-AF65-F5344CB8AC3E}">
        <p14:creationId xmlns:p14="http://schemas.microsoft.com/office/powerpoint/2010/main" val="896184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was a major consideration in the design of the </a:t>
            </a:r>
            <a:r>
              <a:rPr lang="en-US" dirty="0" err="1"/>
              <a:t>DriverPass</a:t>
            </a:r>
            <a:r>
              <a:rPr lang="en-US" dirty="0"/>
              <a:t> system. First, all users must log in using secure credentials, and passwords are protected to prevent unauthorized access. If a user enters incorrect login information multiple times, the system temporarily locks the account to prevent misuse.</a:t>
            </a:r>
          </a:p>
          <a:p>
            <a:r>
              <a:rPr lang="en-US" dirty="0"/>
              <a:t>The system uses role-based access, meaning each employee only has access to the features necessary for their job. For example, the IT officer can manage accounts, while the secretary can manage reservations. This prevents unauthorized changes.</a:t>
            </a:r>
          </a:p>
          <a:p>
            <a:r>
              <a:rPr lang="en-US" dirty="0"/>
              <a:t>All online payments are processed through a secure payment service to ensure that customer financial information is protected. The system does not store sensitive payment details directly.</a:t>
            </a:r>
          </a:p>
          <a:p>
            <a:r>
              <a:rPr lang="en-US" dirty="0"/>
              <a:t>Additionally, all data transmitted between users and the system is encrypted, protecting personal information from being intercepted. The system also records all important actions, such as reservation changes or account updates, in an activity log to provide accountability and transparency.</a:t>
            </a:r>
          </a:p>
          <a:p>
            <a:r>
              <a:rPr lang="en-US" dirty="0"/>
              <a:t>These security measures ensure that customer information remains protected while allowing </a:t>
            </a:r>
            <a:r>
              <a:rPr lang="en-US" dirty="0" err="1"/>
              <a:t>DriverPass</a:t>
            </a:r>
            <a:r>
              <a:rPr lang="en-US" dirty="0"/>
              <a:t> to operate efficiently and securely.</a:t>
            </a:r>
          </a:p>
          <a:p>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5</a:t>
            </a:fld>
            <a:endParaRPr lang="en-US"/>
          </a:p>
        </p:txBody>
      </p:sp>
    </p:spTree>
    <p:extLst>
      <p:ext uri="{BB962C8B-B14F-4D97-AF65-F5344CB8AC3E}">
        <p14:creationId xmlns:p14="http://schemas.microsoft.com/office/powerpoint/2010/main" val="3491611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the </a:t>
            </a:r>
            <a:r>
              <a:rPr lang="en-US" dirty="0" err="1"/>
              <a:t>DriverPass</a:t>
            </a:r>
            <a:r>
              <a:rPr lang="en-US" dirty="0"/>
              <a:t> system is designed to meet your operational needs, there are a few limitations to consider.</a:t>
            </a:r>
          </a:p>
          <a:p>
            <a:r>
              <a:rPr lang="en-US" dirty="0"/>
              <a:t>First, because the system is web-based, users must have internet access to schedule lessons, take practice tests, or manage accounts. If internet service is unavailable, system access will be temporarily limited.</a:t>
            </a:r>
          </a:p>
          <a:p>
            <a:r>
              <a:rPr lang="en-US" dirty="0"/>
              <a:t>Second, practice test content depends on updates provided by the DMV. If the DMV changes its requirements but does not immediately update its system, there may be a short delay before new content appears.</a:t>
            </a:r>
          </a:p>
          <a:p>
            <a:r>
              <a:rPr lang="en-US" dirty="0"/>
              <a:t>Third, the system currently supports a defined set of lesson packages. While packages can be managed by the owner, creating entirely new package structures may require system updates.</a:t>
            </a:r>
          </a:p>
          <a:p>
            <a:r>
              <a:rPr lang="en-US" dirty="0"/>
              <a:t>Additionally, the accuracy of scheduling depends on properly maintained driver and vehicle availability. Administrative staff must ensure schedules are updated consistently.</a:t>
            </a:r>
          </a:p>
          <a:p>
            <a:r>
              <a:rPr lang="en-US" dirty="0"/>
              <a:t>Finally, payment processing relies on a secure third-party payment provider. If that service experiences downtime, payments may be temporarily unavailable.</a:t>
            </a:r>
          </a:p>
          <a:p>
            <a:r>
              <a:rPr lang="en-US" dirty="0"/>
              <a:t>These limitations are common in online systems and can be managed with proper administrative oversight.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6</a:t>
            </a:fld>
            <a:endParaRPr lang="en-US"/>
          </a:p>
        </p:txBody>
      </p:sp>
    </p:spTree>
    <p:extLst>
      <p:ext uri="{BB962C8B-B14F-4D97-AF65-F5344CB8AC3E}">
        <p14:creationId xmlns:p14="http://schemas.microsoft.com/office/powerpoint/2010/main" val="970660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391AB-F383-4237-A071-AD1C6E9246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6636DA-4FDE-4B32-8CCE-37EFA3E757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F87932-8FF0-4DF1-A776-9A3CE37618A7}"/>
              </a:ext>
            </a:extLst>
          </p:cNvPr>
          <p:cNvSpPr>
            <a:spLocks noGrp="1"/>
          </p:cNvSpPr>
          <p:nvPr>
            <p:ph type="dt" sz="half" idx="10"/>
          </p:nvPr>
        </p:nvSpPr>
        <p:spPr/>
        <p:txBody>
          <a:bodyPr/>
          <a:lstStyle/>
          <a:p>
            <a:fld id="{5D6495F3-B757-4FAF-98AA-EDA7D1485485}" type="datetimeFigureOut">
              <a:rPr lang="en-US" smtClean="0"/>
              <a:t>2/22/2026</a:t>
            </a:fld>
            <a:endParaRPr lang="en-US"/>
          </a:p>
        </p:txBody>
      </p:sp>
      <p:sp>
        <p:nvSpPr>
          <p:cNvPr id="5" name="Footer Placeholder 4">
            <a:extLst>
              <a:ext uri="{FF2B5EF4-FFF2-40B4-BE49-F238E27FC236}">
                <a16:creationId xmlns:a16="http://schemas.microsoft.com/office/drawing/2014/main" id="{5F38FAB8-C9F1-4DBB-B355-D8DEE37065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490E3-D8E8-4766-9104-14009BF5636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456901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BC967-18DB-4664-9B4D-06177FB946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DF7174-64B4-4D8F-BF44-3DD1F66CAD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CD83D3-86C4-482F-A2DC-B4C55DBF3F7A}"/>
              </a:ext>
            </a:extLst>
          </p:cNvPr>
          <p:cNvSpPr>
            <a:spLocks noGrp="1"/>
          </p:cNvSpPr>
          <p:nvPr>
            <p:ph type="dt" sz="half" idx="10"/>
          </p:nvPr>
        </p:nvSpPr>
        <p:spPr/>
        <p:txBody>
          <a:bodyPr/>
          <a:lstStyle/>
          <a:p>
            <a:fld id="{5D6495F3-B757-4FAF-98AA-EDA7D1485485}" type="datetimeFigureOut">
              <a:rPr lang="en-US" smtClean="0"/>
              <a:t>2/22/2026</a:t>
            </a:fld>
            <a:endParaRPr lang="en-US"/>
          </a:p>
        </p:txBody>
      </p:sp>
      <p:sp>
        <p:nvSpPr>
          <p:cNvPr id="5" name="Footer Placeholder 4">
            <a:extLst>
              <a:ext uri="{FF2B5EF4-FFF2-40B4-BE49-F238E27FC236}">
                <a16:creationId xmlns:a16="http://schemas.microsoft.com/office/drawing/2014/main" id="{DCF05BE2-6C23-4CB4-A63E-457E635BF2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097965-24FE-4C07-BE16-69AE439950E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275768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3394D-04EF-440C-B08B-114464B315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EBE3F6-F021-4D6B-8B0D-EF74D7461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96233C-6806-4593-91C0-CF4ECD84A601}"/>
              </a:ext>
            </a:extLst>
          </p:cNvPr>
          <p:cNvSpPr>
            <a:spLocks noGrp="1"/>
          </p:cNvSpPr>
          <p:nvPr>
            <p:ph type="dt" sz="half" idx="10"/>
          </p:nvPr>
        </p:nvSpPr>
        <p:spPr/>
        <p:txBody>
          <a:bodyPr/>
          <a:lstStyle/>
          <a:p>
            <a:fld id="{5D6495F3-B757-4FAF-98AA-EDA7D1485485}" type="datetimeFigureOut">
              <a:rPr lang="en-US" smtClean="0"/>
              <a:t>2/22/2026</a:t>
            </a:fld>
            <a:endParaRPr lang="en-US"/>
          </a:p>
        </p:txBody>
      </p:sp>
      <p:sp>
        <p:nvSpPr>
          <p:cNvPr id="5" name="Footer Placeholder 4">
            <a:extLst>
              <a:ext uri="{FF2B5EF4-FFF2-40B4-BE49-F238E27FC236}">
                <a16:creationId xmlns:a16="http://schemas.microsoft.com/office/drawing/2014/main" id="{963A761E-2D3A-4397-A82C-2F3B981DE0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297E71-B59F-4260-B01B-2B7CEB0896B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639326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4DFCB-DD40-4637-9CAB-2BAF24231C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94065F-4B44-4622-98EE-166F936489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AF1249-B890-4466-9E24-84A2490700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0FA9B4-D282-452F-B78A-FF5873ACF45A}"/>
              </a:ext>
            </a:extLst>
          </p:cNvPr>
          <p:cNvSpPr>
            <a:spLocks noGrp="1"/>
          </p:cNvSpPr>
          <p:nvPr>
            <p:ph type="dt" sz="half" idx="10"/>
          </p:nvPr>
        </p:nvSpPr>
        <p:spPr/>
        <p:txBody>
          <a:bodyPr/>
          <a:lstStyle/>
          <a:p>
            <a:fld id="{5D6495F3-B757-4FAF-98AA-EDA7D1485485}" type="datetimeFigureOut">
              <a:rPr lang="en-US" smtClean="0"/>
              <a:t>2/22/2026</a:t>
            </a:fld>
            <a:endParaRPr lang="en-US"/>
          </a:p>
        </p:txBody>
      </p:sp>
      <p:sp>
        <p:nvSpPr>
          <p:cNvPr id="6" name="Footer Placeholder 5">
            <a:extLst>
              <a:ext uri="{FF2B5EF4-FFF2-40B4-BE49-F238E27FC236}">
                <a16:creationId xmlns:a16="http://schemas.microsoft.com/office/drawing/2014/main" id="{6E9B0F13-A139-4B66-9544-16480800F6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8791D0-EC30-4D8C-8764-475D8DB34F1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081502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3AA7D-15D2-4D5F-B1C4-501073416D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E80A0E-25B9-4E8E-8B0D-201E1C5640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89B111-0CA0-47CD-9F0B-DBCBA3AE3C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F0E02D-3176-4B85-ACB6-721F268274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7D9317-BBE1-4F36-82FE-E348F6F18A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837DDCB-69F8-49FA-A111-C8AB271389E7}"/>
              </a:ext>
            </a:extLst>
          </p:cNvPr>
          <p:cNvSpPr>
            <a:spLocks noGrp="1"/>
          </p:cNvSpPr>
          <p:nvPr>
            <p:ph type="dt" sz="half" idx="10"/>
          </p:nvPr>
        </p:nvSpPr>
        <p:spPr/>
        <p:txBody>
          <a:bodyPr/>
          <a:lstStyle/>
          <a:p>
            <a:fld id="{5D6495F3-B757-4FAF-98AA-EDA7D1485485}" type="datetimeFigureOut">
              <a:rPr lang="en-US" smtClean="0"/>
              <a:t>2/22/2026</a:t>
            </a:fld>
            <a:endParaRPr lang="en-US"/>
          </a:p>
        </p:txBody>
      </p:sp>
      <p:sp>
        <p:nvSpPr>
          <p:cNvPr id="8" name="Footer Placeholder 7">
            <a:extLst>
              <a:ext uri="{FF2B5EF4-FFF2-40B4-BE49-F238E27FC236}">
                <a16:creationId xmlns:a16="http://schemas.microsoft.com/office/drawing/2014/main" id="{4A18B0CD-1F68-412E-9232-F267114CA7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9B21FC-12CC-472D-BC38-EF413158CC5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894143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F51AB-8384-4E67-914C-B39484AD23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909660-3861-4545-BF68-9ED039B5D0F0}"/>
              </a:ext>
            </a:extLst>
          </p:cNvPr>
          <p:cNvSpPr>
            <a:spLocks noGrp="1"/>
          </p:cNvSpPr>
          <p:nvPr>
            <p:ph type="dt" sz="half" idx="10"/>
          </p:nvPr>
        </p:nvSpPr>
        <p:spPr/>
        <p:txBody>
          <a:bodyPr/>
          <a:lstStyle/>
          <a:p>
            <a:fld id="{5D6495F3-B757-4FAF-98AA-EDA7D1485485}" type="datetimeFigureOut">
              <a:rPr lang="en-US" smtClean="0"/>
              <a:t>2/22/2026</a:t>
            </a:fld>
            <a:endParaRPr lang="en-US"/>
          </a:p>
        </p:txBody>
      </p:sp>
      <p:sp>
        <p:nvSpPr>
          <p:cNvPr id="4" name="Footer Placeholder 3">
            <a:extLst>
              <a:ext uri="{FF2B5EF4-FFF2-40B4-BE49-F238E27FC236}">
                <a16:creationId xmlns:a16="http://schemas.microsoft.com/office/drawing/2014/main" id="{FDDD5392-AC3A-4EAF-ADE6-B6CF4B50AC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679880-BF48-4F4D-B8B3-4E99FC415FF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351489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F98E25-CF37-4F73-9E22-210238167867}"/>
              </a:ext>
            </a:extLst>
          </p:cNvPr>
          <p:cNvSpPr>
            <a:spLocks noGrp="1"/>
          </p:cNvSpPr>
          <p:nvPr>
            <p:ph type="dt" sz="half" idx="10"/>
          </p:nvPr>
        </p:nvSpPr>
        <p:spPr/>
        <p:txBody>
          <a:bodyPr/>
          <a:lstStyle/>
          <a:p>
            <a:fld id="{5D6495F3-B757-4FAF-98AA-EDA7D1485485}" type="datetimeFigureOut">
              <a:rPr lang="en-US" smtClean="0"/>
              <a:t>2/22/2026</a:t>
            </a:fld>
            <a:endParaRPr lang="en-US"/>
          </a:p>
        </p:txBody>
      </p:sp>
      <p:sp>
        <p:nvSpPr>
          <p:cNvPr id="3" name="Footer Placeholder 2">
            <a:extLst>
              <a:ext uri="{FF2B5EF4-FFF2-40B4-BE49-F238E27FC236}">
                <a16:creationId xmlns:a16="http://schemas.microsoft.com/office/drawing/2014/main" id="{89D7A0E1-38AB-4FDA-8EC1-2D7617909C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A8E424-5A91-4557-9ADF-4A9422A0690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497802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BB935-0427-44CC-A384-333EAD8317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B9DCF6-55CF-43EE-B135-BFC4B4D403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337538E-A112-4E8F-A445-1A06B0C353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30D413-9505-4ED8-BFF1-5141BE9EE3C4}"/>
              </a:ext>
            </a:extLst>
          </p:cNvPr>
          <p:cNvSpPr>
            <a:spLocks noGrp="1"/>
          </p:cNvSpPr>
          <p:nvPr>
            <p:ph type="dt" sz="half" idx="10"/>
          </p:nvPr>
        </p:nvSpPr>
        <p:spPr/>
        <p:txBody>
          <a:bodyPr/>
          <a:lstStyle/>
          <a:p>
            <a:fld id="{5D6495F3-B757-4FAF-98AA-EDA7D1485485}" type="datetimeFigureOut">
              <a:rPr lang="en-US" smtClean="0"/>
              <a:t>2/22/2026</a:t>
            </a:fld>
            <a:endParaRPr lang="en-US"/>
          </a:p>
        </p:txBody>
      </p:sp>
      <p:sp>
        <p:nvSpPr>
          <p:cNvPr id="6" name="Footer Placeholder 5">
            <a:extLst>
              <a:ext uri="{FF2B5EF4-FFF2-40B4-BE49-F238E27FC236}">
                <a16:creationId xmlns:a16="http://schemas.microsoft.com/office/drawing/2014/main" id="{F60815B0-4528-4FA2-8472-8F19C0F165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C9FCEF-4406-4552-BFE4-6DA3761357F2}"/>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754063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CE22C-69D4-49EC-8858-787B3C67B0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6A4341-3C0B-4025-AE17-8F0F8FABF5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EF5FF01-E0B6-419C-ABCC-70844E4EAC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501218-FFD7-4F25-B220-F5DE5F70693C}"/>
              </a:ext>
            </a:extLst>
          </p:cNvPr>
          <p:cNvSpPr>
            <a:spLocks noGrp="1"/>
          </p:cNvSpPr>
          <p:nvPr>
            <p:ph type="dt" sz="half" idx="10"/>
          </p:nvPr>
        </p:nvSpPr>
        <p:spPr/>
        <p:txBody>
          <a:bodyPr/>
          <a:lstStyle/>
          <a:p>
            <a:fld id="{5D6495F3-B757-4FAF-98AA-EDA7D1485485}" type="datetimeFigureOut">
              <a:rPr lang="en-US" smtClean="0"/>
              <a:t>2/22/2026</a:t>
            </a:fld>
            <a:endParaRPr lang="en-US"/>
          </a:p>
        </p:txBody>
      </p:sp>
      <p:sp>
        <p:nvSpPr>
          <p:cNvPr id="6" name="Footer Placeholder 5">
            <a:extLst>
              <a:ext uri="{FF2B5EF4-FFF2-40B4-BE49-F238E27FC236}">
                <a16:creationId xmlns:a16="http://schemas.microsoft.com/office/drawing/2014/main" id="{9687CBFB-34A6-49D8-A1D2-45DF38876E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2726A4-D33A-486A-B120-648AF3D8BA76}"/>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644743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B8678-553E-4A5B-8CFE-5DB358BDF3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3AF303-1F73-4575-83E6-561589F163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36EC56-7DCF-400D-A871-C26291EB10AD}"/>
              </a:ext>
            </a:extLst>
          </p:cNvPr>
          <p:cNvSpPr>
            <a:spLocks noGrp="1"/>
          </p:cNvSpPr>
          <p:nvPr>
            <p:ph type="dt" sz="half" idx="10"/>
          </p:nvPr>
        </p:nvSpPr>
        <p:spPr/>
        <p:txBody>
          <a:bodyPr/>
          <a:lstStyle/>
          <a:p>
            <a:fld id="{5D6495F3-B757-4FAF-98AA-EDA7D1485485}" type="datetimeFigureOut">
              <a:rPr lang="en-US" smtClean="0"/>
              <a:t>2/22/2026</a:t>
            </a:fld>
            <a:endParaRPr lang="en-US"/>
          </a:p>
        </p:txBody>
      </p:sp>
      <p:sp>
        <p:nvSpPr>
          <p:cNvPr id="5" name="Footer Placeholder 4">
            <a:extLst>
              <a:ext uri="{FF2B5EF4-FFF2-40B4-BE49-F238E27FC236}">
                <a16:creationId xmlns:a16="http://schemas.microsoft.com/office/drawing/2014/main" id="{17FFAC5B-7C77-4F8C-ADB0-8D208A2EB3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2F48AF-AB8F-4DD2-BC77-7E2F42AD3B87}"/>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187317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0ED820-BFE6-41B5-8064-984037A999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A27FEA-5359-474A-B4F8-FF510DD748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DD33D-563C-4B8C-B8C1-625FF5C5B85D}"/>
              </a:ext>
            </a:extLst>
          </p:cNvPr>
          <p:cNvSpPr>
            <a:spLocks noGrp="1"/>
          </p:cNvSpPr>
          <p:nvPr>
            <p:ph type="dt" sz="half" idx="10"/>
          </p:nvPr>
        </p:nvSpPr>
        <p:spPr/>
        <p:txBody>
          <a:bodyPr/>
          <a:lstStyle/>
          <a:p>
            <a:fld id="{5D6495F3-B757-4FAF-98AA-EDA7D1485485}" type="datetimeFigureOut">
              <a:rPr lang="en-US" smtClean="0"/>
              <a:t>2/22/2026</a:t>
            </a:fld>
            <a:endParaRPr lang="en-US"/>
          </a:p>
        </p:txBody>
      </p:sp>
      <p:sp>
        <p:nvSpPr>
          <p:cNvPr id="5" name="Footer Placeholder 4">
            <a:extLst>
              <a:ext uri="{FF2B5EF4-FFF2-40B4-BE49-F238E27FC236}">
                <a16:creationId xmlns:a16="http://schemas.microsoft.com/office/drawing/2014/main" id="{40471877-89FD-46BE-832F-C5660A5567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6E675F-CC4D-48CF-90C8-53829EE08B8C}"/>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454621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07C8C3-4165-4353-ABF2-492454AF91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9AA46A-3C66-4E4A-9907-225E50ABB7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7F8214-A11A-4309-9D51-44F35987D1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495F3-B757-4FAF-98AA-EDA7D1485485}" type="datetimeFigureOut">
              <a:rPr lang="en-US" smtClean="0"/>
              <a:t>2/22/2026</a:t>
            </a:fld>
            <a:endParaRPr lang="en-US"/>
          </a:p>
        </p:txBody>
      </p:sp>
      <p:sp>
        <p:nvSpPr>
          <p:cNvPr id="5" name="Footer Placeholder 4">
            <a:extLst>
              <a:ext uri="{FF2B5EF4-FFF2-40B4-BE49-F238E27FC236}">
                <a16:creationId xmlns:a16="http://schemas.microsoft.com/office/drawing/2014/main" id="{D6A334EB-8260-4F13-9553-5A8593D9DC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0C1EF96-E028-4E68-864E-9B77CF9F25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1939C1-24D7-49E9-A58A-7960365209F5}" type="slidenum">
              <a:rPr lang="en-US" smtClean="0"/>
              <a:t>‹#›</a:t>
            </a:fld>
            <a:endParaRPr lang="en-US"/>
          </a:p>
        </p:txBody>
      </p:sp>
    </p:spTree>
    <p:extLst>
      <p:ext uri="{BB962C8B-B14F-4D97-AF65-F5344CB8AC3E}">
        <p14:creationId xmlns:p14="http://schemas.microsoft.com/office/powerpoint/2010/main" val="1825945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488"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3045368" y="2043663"/>
            <a:ext cx="6105194" cy="2031055"/>
          </a:xfrm>
        </p:spPr>
        <p:txBody>
          <a:bodyPr>
            <a:normAutofit/>
          </a:bodyPr>
          <a:lstStyle/>
          <a:p>
            <a:r>
              <a:rPr lang="en-US" dirty="0" err="1">
                <a:solidFill>
                  <a:srgbClr val="FFFFFF"/>
                </a:solidFill>
              </a:rPr>
              <a:t>DriverPass</a:t>
            </a:r>
            <a:br>
              <a:rPr lang="en-US" dirty="0">
                <a:solidFill>
                  <a:srgbClr val="FFFFFF"/>
                </a:solidFill>
              </a:rPr>
            </a:br>
            <a:r>
              <a:rPr lang="en-US" dirty="0">
                <a:solidFill>
                  <a:srgbClr val="FFFFFF"/>
                </a:solidFill>
              </a:rPr>
              <a:t>System Analysis</a:t>
            </a:r>
          </a:p>
        </p:txBody>
      </p:sp>
      <p:sp>
        <p:nvSpPr>
          <p:cNvPr id="3" name="Content Placeholder 2"/>
          <p:cNvSpPr>
            <a:spLocks noGrp="1"/>
          </p:cNvSpPr>
          <p:nvPr>
            <p:ph type="subTitle" idx="1"/>
          </p:nvPr>
        </p:nvSpPr>
        <p:spPr>
          <a:xfrm>
            <a:off x="3045368" y="4074718"/>
            <a:ext cx="6105194" cy="682079"/>
          </a:xfrm>
        </p:spPr>
        <p:txBody>
          <a:bodyPr>
            <a:normAutofit/>
          </a:bodyPr>
          <a:lstStyle/>
          <a:p>
            <a:r>
              <a:rPr lang="en-US" dirty="0">
                <a:solidFill>
                  <a:srgbClr val="FFFFFF"/>
                </a:solidFill>
              </a:rPr>
              <a:t>Christina Frediani</a:t>
            </a:r>
            <a:endParaRPr dirty="0">
              <a:solidFill>
                <a:srgbClr val="FFFFFF"/>
              </a:solidFill>
            </a:endParaRPr>
          </a:p>
        </p:txBody>
      </p:sp>
    </p:spTree>
    <p:custDataLst>
      <p:tags r:id="rId1"/>
    </p:custDataLst>
    <p:extLst>
      <p:ext uri="{BB962C8B-B14F-4D97-AF65-F5344CB8AC3E}">
        <p14:creationId xmlns:p14="http://schemas.microsoft.com/office/powerpoint/2010/main" val="409182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Requirements</a:t>
            </a:r>
          </a:p>
        </p:txBody>
      </p:sp>
      <p:sp>
        <p:nvSpPr>
          <p:cNvPr id="3" name="Content Placeholder 2"/>
          <p:cNvSpPr>
            <a:spLocks noGrp="1"/>
          </p:cNvSpPr>
          <p:nvPr>
            <p:ph idx="1"/>
          </p:nvPr>
        </p:nvSpPr>
        <p:spPr>
          <a:xfrm>
            <a:off x="6090574" y="801866"/>
            <a:ext cx="5306084" cy="5230634"/>
          </a:xfrm>
        </p:spPr>
        <p:txBody>
          <a:bodyPr anchor="ctr">
            <a:normAutofit fontScale="92500" lnSpcReduction="20000"/>
          </a:bodyPr>
          <a:lstStyle/>
          <a:p>
            <a:r>
              <a:rPr lang="en-US" sz="2400" b="1" dirty="0"/>
              <a:t>Functional Requirements</a:t>
            </a:r>
          </a:p>
          <a:p>
            <a:r>
              <a:rPr lang="en-US" sz="2400" dirty="0"/>
              <a:t>Customers can schedule driving lessons online</a:t>
            </a:r>
          </a:p>
          <a:p>
            <a:r>
              <a:rPr lang="en-US" sz="2400" dirty="0"/>
              <a:t>Customers can take online practice tests</a:t>
            </a:r>
          </a:p>
          <a:p>
            <a:r>
              <a:rPr lang="en-US" sz="2400" dirty="0"/>
              <a:t>Staff can manage reservations and assign drivers</a:t>
            </a:r>
          </a:p>
          <a:p>
            <a:r>
              <a:rPr lang="en-US" sz="2400" dirty="0"/>
              <a:t>The system processes secure online payments</a:t>
            </a:r>
          </a:p>
          <a:p>
            <a:r>
              <a:rPr lang="en-US" sz="2400" b="1" dirty="0"/>
              <a:t>Nonfunctional Requirements</a:t>
            </a:r>
          </a:p>
          <a:p>
            <a:r>
              <a:rPr lang="en-US" sz="2400" dirty="0"/>
              <a:t>System is accessible online 24/7</a:t>
            </a:r>
          </a:p>
          <a:p>
            <a:r>
              <a:rPr lang="en-US" sz="2400" dirty="0"/>
              <a:t>Customer data and payments are securely protected</a:t>
            </a:r>
          </a:p>
          <a:p>
            <a:r>
              <a:rPr lang="en-US" sz="2400" dirty="0"/>
              <a:t>Role-based access for employees</a:t>
            </a:r>
          </a:p>
          <a:p>
            <a:r>
              <a:rPr lang="en-US" sz="2400" dirty="0"/>
              <a:t>System maintains activity tracking and reporting</a:t>
            </a:r>
          </a:p>
          <a:p>
            <a:endParaRPr sz="2400" dirty="0">
              <a:solidFill>
                <a:srgbClr val="000000"/>
              </a:solidFill>
            </a:endParaRPr>
          </a:p>
        </p:txBody>
      </p:sp>
    </p:spTree>
    <p:custDataLst>
      <p:tags r:id="rId1"/>
    </p:custDataLst>
    <p:extLst>
      <p:ext uri="{BB962C8B-B14F-4D97-AF65-F5344CB8AC3E}">
        <p14:creationId xmlns:p14="http://schemas.microsoft.com/office/powerpoint/2010/main" val="1865885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Use Case Diagram</a:t>
            </a:r>
          </a:p>
        </p:txBody>
      </p:sp>
      <p:pic>
        <p:nvPicPr>
          <p:cNvPr id="5" name="Content Placeholder 4">
            <a:extLst>
              <a:ext uri="{FF2B5EF4-FFF2-40B4-BE49-F238E27FC236}">
                <a16:creationId xmlns:a16="http://schemas.microsoft.com/office/drawing/2014/main" id="{85C7DF0E-13F8-60D0-6469-E12F7E8F6BAA}"/>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6153017" y="1226231"/>
            <a:ext cx="5181866" cy="4381725"/>
          </a:xfrm>
        </p:spPr>
      </p:pic>
    </p:spTree>
    <p:custDataLst>
      <p:tags r:id="rId1"/>
    </p:custDataLst>
    <p:extLst>
      <p:ext uri="{BB962C8B-B14F-4D97-AF65-F5344CB8AC3E}">
        <p14:creationId xmlns:p14="http://schemas.microsoft.com/office/powerpoint/2010/main" val="2776425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Activity</a:t>
            </a:r>
            <a:br>
              <a:rPr lang="en-US" dirty="0">
                <a:solidFill>
                  <a:schemeClr val="bg1"/>
                </a:solidFill>
              </a:rPr>
            </a:br>
            <a:r>
              <a:rPr lang="en-US" dirty="0">
                <a:solidFill>
                  <a:schemeClr val="bg1"/>
                </a:solidFill>
              </a:rPr>
              <a:t>Diagram</a:t>
            </a:r>
          </a:p>
        </p:txBody>
      </p:sp>
      <p:pic>
        <p:nvPicPr>
          <p:cNvPr id="5" name="Content Placeholder 4">
            <a:extLst>
              <a:ext uri="{FF2B5EF4-FFF2-40B4-BE49-F238E27FC236}">
                <a16:creationId xmlns:a16="http://schemas.microsoft.com/office/drawing/2014/main" id="{C8884B72-7C2A-5F86-B4BC-6C4FDAC1DABD}"/>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7739483" y="801688"/>
            <a:ext cx="2008935" cy="5230812"/>
          </a:xfrm>
        </p:spPr>
      </p:pic>
    </p:spTree>
    <p:custDataLst>
      <p:tags r:id="rId1"/>
    </p:custDataLst>
    <p:extLst>
      <p:ext uri="{BB962C8B-B14F-4D97-AF65-F5344CB8AC3E}">
        <p14:creationId xmlns:p14="http://schemas.microsoft.com/office/powerpoint/2010/main" val="3564055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Security</a:t>
            </a:r>
          </a:p>
        </p:txBody>
      </p:sp>
      <p:sp>
        <p:nvSpPr>
          <p:cNvPr id="3" name="Content Placeholder 2"/>
          <p:cNvSpPr>
            <a:spLocks noGrp="1"/>
          </p:cNvSpPr>
          <p:nvPr>
            <p:ph idx="1"/>
          </p:nvPr>
        </p:nvSpPr>
        <p:spPr>
          <a:xfrm>
            <a:off x="6090574" y="801866"/>
            <a:ext cx="5306084" cy="5230634"/>
          </a:xfrm>
        </p:spPr>
        <p:txBody>
          <a:bodyPr anchor="ctr">
            <a:normAutofit/>
          </a:bodyPr>
          <a:lstStyle/>
          <a:p>
            <a:r>
              <a:rPr lang="en-US" sz="2400" b="1" dirty="0"/>
              <a:t>Security</a:t>
            </a:r>
            <a:endParaRPr lang="en-US" sz="2400" dirty="0"/>
          </a:p>
          <a:p>
            <a:r>
              <a:rPr lang="en-US" sz="2400" dirty="0"/>
              <a:t>Secure login and password protection</a:t>
            </a:r>
          </a:p>
          <a:p>
            <a:r>
              <a:rPr lang="en-US" sz="2400" dirty="0"/>
              <a:t>Role-based access for staff</a:t>
            </a:r>
          </a:p>
          <a:p>
            <a:r>
              <a:rPr lang="en-US" sz="2400" dirty="0"/>
              <a:t>Encrypted payment processing</a:t>
            </a:r>
          </a:p>
          <a:p>
            <a:r>
              <a:rPr lang="en-US" sz="2400" dirty="0"/>
              <a:t>Account lockout after failed login attempts</a:t>
            </a:r>
          </a:p>
          <a:p>
            <a:r>
              <a:rPr lang="en-US" sz="2400" dirty="0"/>
              <a:t>Activity tracking for reservations and changes</a:t>
            </a:r>
          </a:p>
          <a:p>
            <a:r>
              <a:rPr lang="en-US" sz="2400" dirty="0"/>
              <a:t>Secure online data transmission</a:t>
            </a:r>
          </a:p>
          <a:p>
            <a:endParaRPr sz="2400" dirty="0">
              <a:solidFill>
                <a:srgbClr val="000000"/>
              </a:solidFill>
            </a:endParaRPr>
          </a:p>
        </p:txBody>
      </p:sp>
    </p:spTree>
    <p:custDataLst>
      <p:tags r:id="rId1"/>
    </p:custDataLst>
    <p:extLst>
      <p:ext uri="{BB962C8B-B14F-4D97-AF65-F5344CB8AC3E}">
        <p14:creationId xmlns:p14="http://schemas.microsoft.com/office/powerpoint/2010/main" val="376843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Limitations</a:t>
            </a:r>
          </a:p>
        </p:txBody>
      </p:sp>
      <p:sp>
        <p:nvSpPr>
          <p:cNvPr id="3" name="Content Placeholder 2"/>
          <p:cNvSpPr>
            <a:spLocks noGrp="1"/>
          </p:cNvSpPr>
          <p:nvPr>
            <p:ph type="body" idx="1"/>
          </p:nvPr>
        </p:nvSpPr>
        <p:spPr>
          <a:xfrm>
            <a:off x="6090574" y="801866"/>
            <a:ext cx="5306084" cy="5230634"/>
          </a:xfrm>
        </p:spPr>
        <p:txBody>
          <a:bodyPr anchor="ctr">
            <a:normAutofit/>
          </a:bodyPr>
          <a:lstStyle/>
          <a:p>
            <a:r>
              <a:rPr lang="en-US" sz="2400" b="1" dirty="0"/>
              <a:t>System Limitations</a:t>
            </a:r>
            <a:endParaRPr lang="en-US" sz="2400" dirty="0"/>
          </a:p>
          <a:p>
            <a:r>
              <a:rPr lang="en-US" sz="2400" dirty="0"/>
              <a:t>Requires internet access to schedule or manage lessons</a:t>
            </a:r>
          </a:p>
          <a:p>
            <a:r>
              <a:rPr lang="en-US" sz="2400" dirty="0"/>
              <a:t>Practice test content depends on DMV updates</a:t>
            </a:r>
          </a:p>
          <a:p>
            <a:r>
              <a:rPr lang="en-US" sz="2400" dirty="0"/>
              <a:t>Limited to current package structure</a:t>
            </a:r>
          </a:p>
          <a:p>
            <a:r>
              <a:rPr lang="en-US" sz="2400" dirty="0"/>
              <a:t>Driver and vehicle availability must be updated accurately</a:t>
            </a:r>
          </a:p>
          <a:p>
            <a:r>
              <a:rPr lang="en-US" sz="2400" dirty="0"/>
              <a:t>Payment processing depends on third-party service</a:t>
            </a:r>
          </a:p>
          <a:p>
            <a:pPr marL="0" indent="0">
              <a:buNone/>
            </a:pPr>
            <a:endParaRPr sz="2400" dirty="0">
              <a:solidFill>
                <a:srgbClr val="000000"/>
              </a:solidFill>
            </a:endParaRPr>
          </a:p>
        </p:txBody>
      </p:sp>
    </p:spTree>
    <p:custDataLst>
      <p:tags r:id="rId1"/>
    </p:custDataLst>
    <p:extLst>
      <p:ext uri="{BB962C8B-B14F-4D97-AF65-F5344CB8AC3E}">
        <p14:creationId xmlns:p14="http://schemas.microsoft.com/office/powerpoint/2010/main" val="32251416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WebD281</Template>
  <TotalTime>1948</TotalTime>
  <Words>1171</Words>
  <Application>Microsoft Office PowerPoint</Application>
  <PresentationFormat>Widescreen</PresentationFormat>
  <Paragraphs>66</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DriverPass System Analysis</vt:lpstr>
      <vt:lpstr>System Requirements</vt:lpstr>
      <vt:lpstr>Use Case Diagram</vt:lpstr>
      <vt:lpstr>Activity Diagram</vt:lpstr>
      <vt:lpstr>Security</vt:lpstr>
      <vt:lpstr>System Limitations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Analysis</dc:title>
  <dc:creator>Loay Alnaji</dc:creator>
  <cp:lastModifiedBy>Frediani, Christina</cp:lastModifiedBy>
  <cp:revision>24</cp:revision>
  <dcterms:created xsi:type="dcterms:W3CDTF">2019-10-14T02:36:52Z</dcterms:created>
  <dcterms:modified xsi:type="dcterms:W3CDTF">2026-02-23T06:19:03Z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17B2C008-CF5F-4D7E-BF2C-A283A0269B28</vt:lpwstr>
  </property>
  <property fmtid="{D5CDD505-2E9C-101B-9397-08002B2CF9AE}" pid="3" name="ArticulatePath">
    <vt:lpwstr>CS 255 Client Presentation Template</vt:lpwstr>
  </property>
</Properties>
</file>